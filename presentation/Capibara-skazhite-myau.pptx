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Представиться: команда «Скажите "мяу"»</a:t>
            </a:r>
          </a:p>
          <a:p>
            <a:r>
              <a:t>- Одной фразой: из 8 сырых таблиц построили модель, где правила записаны один раз</a:t>
            </a:r>
          </a:p>
          <a:p>
            <a:r>
              <a:t>- Три цифры — доказательство, к ним вернёмся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Все пять способов выглядят разумно, SQL не ругается</a:t>
            </a:r>
          </a:p>
          <a:p>
            <a:r>
              <a:t>- Самый коварный: соединение с отзывами — ошибки почти гасят друг друга, итог отличается на 53 тыс.</a:t>
            </a:r>
          </a:p>
          <a:p>
            <a:r>
              <a:t>- Проблема не в SQL, а в том, что правила не записаны в одном месте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«Доставлен» — это вручён, а не выкуплен: возвратов в данных нет</a:t>
            </a:r>
          </a:p>
          <a:p>
            <a:r>
              <a:t>- Связи между таблицами были только по смыслу (одинаковые номера)</a:t>
            </a:r>
          </a:p>
          <a:p>
            <a:r>
              <a:t>- Мы их проверили: сирот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Это главная идея кейса: что значит одна строка</a:t>
            </a:r>
          </a:p>
          <a:p>
            <a:r>
              <a:t>- Одна покупка = 6 строк в 4 таблицах событий</a:t>
            </a:r>
          </a:p>
          <a:p>
            <a:r>
              <a:t>- Выручка этого заказа 53,33 (только товары), чек 100,70 (с доставкой)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SQL при этом не ругается — ошибка молчаливая</a:t>
            </a:r>
          </a:p>
          <a:p>
            <a:r>
              <a:t>- Если соединить с отзывами, заказы без отзыва ещё и пропадут (768 штук)</a:t>
            </a:r>
          </a:p>
          <a:p>
            <a:r>
              <a:t>- Правило модели: сначала агрегируем детей к заказу, потом соединяем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raw трогать нельзя — требование задания</a:t>
            </a:r>
          </a:p>
          <a:p>
            <a:r>
              <a:t>- core собирается одним SQL-скриптом с нуля</a:t>
            </a:r>
          </a:p>
          <a:p>
            <a:r>
              <a:t>- mart — сохранённые запросы: данных не хранят, всегда считают по свежей модели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Деление на события и справочники — наше решение; критерий жюри: «разделение на факты и измерения»</a:t>
            </a:r>
          </a:p>
          <a:p>
            <a:r>
              <a:t>- Покупатель — постоянный номер человека, адрес — снимок на заказе</a:t>
            </a:r>
          </a:p>
          <a:p>
            <a:r>
              <a:t>- Правило выручки живёт в справочнике статусов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Каждая строка — ловушка, на которой ошибаются</a:t>
            </a:r>
          </a:p>
          <a:p>
            <a:r>
              <a:t>- Неверный ключ покупателя даёт 0 % повторных покупок вместо 3,12 %</a:t>
            </a:r>
          </a:p>
          <a:p>
            <a:r>
              <a:t>- Пусто ≠ ноль: у заказа без товаров позиций 0, а выручка неизвестна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Удалишь — потеряешь настоящие деньги; оставишь как есть — получишь отрицательные дни доставки</a:t>
            </a:r>
          </a:p>
          <a:p>
            <a:r>
              <a:t>- Флажок решает обе проблемы</a:t>
            </a:r>
          </a:p>
          <a:p>
            <a:r>
              <a:t>- Это предупреждения о данных, а не ошибки сборки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Сверяем сырые данные и модель: ключи в обе стороны и суммы каждого денежного поля</a:t>
            </a:r>
          </a:p>
          <a:p>
            <a:r>
              <a:t>- Контрольные цифры — отдельный тест: после вброса новые ожидания выбираем осознанно</a:t>
            </a:r>
          </a:p>
          <a:p>
            <a:r>
              <a:t>- Всё прогнано на полных данных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Все ответы считаются из модели через витрины, а не из сырых данных</a:t>
            </a:r>
          </a:p>
          <a:p>
            <a:r>
              <a:t>- 159,88 против 159,86: контроль сам подсказал формулу — по товарам с доставкой, на уровне заказа</a:t>
            </a:r>
          </a:p>
          <a:p>
            <a:r>
              <a:t>- Вопросы 6–10 появятся во время хакатона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Правило «что считать выручкой» живёт в одном месте — в справочнике статусов</a:t>
            </a:r>
          </a:p>
          <a:p>
            <a:r>
              <a:t>- Незнакомый новый статус база не пустит молча — сборка остановится с понятной ошибкой</a:t>
            </a:r>
          </a:p>
          <a:p>
            <a:r>
              <a:t>- Лучше показать вживую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Для кого: операционный директор, логистика, менеджеры продавцов</a:t>
            </a:r>
          </a:p>
          <a:p>
            <a:r>
              <a:t>- «Опоздал» = привезли позже обещанной даты (по минутам вышло бы 8,1 %)</a:t>
            </a:r>
          </a:p>
          <a:p>
            <a:r>
              <a:t>- Доли и средние нельзя складывать по штатам — только пересчитывать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Критерий «использование ИИ» оценивает прозрачность и проверку результата</a:t>
            </a:r>
          </a:p>
          <a:p>
            <a:r>
              <a:t>- Сильнее показать, где ИИ ошибся и как мы это поймали, чем просто «ИИ помог»</a:t>
            </a:r>
          </a:p>
          <a:p>
            <a:r>
              <a:t>- Всё записано в журнале ИИ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При росте первой упрётся полная пересборка → дописывать только новое</a:t>
            </a:r>
          </a:p>
          <a:p>
            <a:r>
              <a:t>- На другую базу переходим по замерам (время ответа, окно загрузки), а не по выдуманному порогу</a:t>
            </a:r>
          </a:p>
          <a:p>
            <a:r>
              <a:t>- Поблагодарить, ответить на вопросы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825500"/>
            <a:ext cx="546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A3AAB5"/>
                </a:solidFill>
                <a:latin typeface="Manrope"/>
              </a:rPr>
              <a:t>ХАКАТОН RWB · КЕЙС «МОДЕЛЬ МАРКЕТПЛЕЙСА»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1301750"/>
            <a:ext cx="5715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DCDFE4"/>
                </a:solidFill>
                <a:latin typeface="Unbounded"/>
              </a:rPr>
              <a:t>Capibara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311400"/>
            <a:ext cx="5461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0">
                <a:solidFill>
                  <a:srgbClr val="E6E8EC"/>
                </a:solidFill>
                <a:latin typeface="Manrope"/>
              </a:rPr>
              <a:t>Модель данных маркетплейса:</a:t>
            </a:r>
          </a:p>
          <a:p>
            <a:pPr algn="l">
              <a:lnSpc>
                <a:spcPct val="120000"/>
              </a:lnSpc>
            </a:pPr>
            <a:r>
              <a:rPr sz="2300" b="0">
                <a:solidFill>
                  <a:srgbClr val="E6E8EC"/>
                </a:solidFill>
                <a:latin typeface="Manrope"/>
              </a:rPr>
              <a:t>от корзины до выкупа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810000"/>
            <a:ext cx="5207000" cy="12700"/>
          </a:xfrm>
          <a:prstGeom prst="rect">
            <a:avLst/>
          </a:prstGeom>
          <a:solidFill>
            <a:srgbClr val="4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62000" y="4127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DCDFE4"/>
                </a:solidFill>
                <a:latin typeface="Unbounded"/>
              </a:rPr>
              <a:t>550 759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84700"/>
            <a:ext cx="1587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3AAB5"/>
                </a:solidFill>
                <a:latin typeface="Manrope"/>
              </a:rPr>
              <a:t>строк в 8 исходных таблицах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0000" y="4127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DCDFE4"/>
                </a:solidFill>
                <a:latin typeface="Unbounded"/>
              </a:rPr>
              <a:t>42 из 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0" y="4584700"/>
            <a:ext cx="1587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3AAB5"/>
                </a:solidFill>
                <a:latin typeface="Manrope"/>
              </a:rPr>
              <a:t>контрольных цифр совпали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127500"/>
            <a:ext cx="171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DCDFE4"/>
                </a:solidFill>
                <a:latin typeface="Unbounded"/>
              </a:rPr>
              <a:t>129 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4584700"/>
            <a:ext cx="1587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A3AAB5"/>
                </a:solidFill>
                <a:latin typeface="Manrope"/>
              </a:rPr>
              <a:t>сборка модели с нуля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546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E6E8EC"/>
                </a:solidFill>
                <a:latin typeface="Unbounded"/>
              </a:rPr>
              <a:t>Команда «Скажите "мяу"»</a:t>
            </a:r>
          </a:p>
        </p:txBody>
      </p:sp>
      <p:pic>
        <p:nvPicPr>
          <p:cNvPr id="13" name="Picture 12" descr="leop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270000"/>
            <a:ext cx="5080000" cy="3841750"/>
          </a:xfrm>
          <a:prstGeom prst="roundRect">
            <a:avLst>
              <a:gd name="adj" fmla="val 5289"/>
            </a:avLst>
          </a:prstGeom>
          <a:ln w="12700">
            <a:solidFill>
              <a:srgbClr val="5B6068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7131050" y="3968750"/>
            <a:ext cx="825500" cy="406400"/>
          </a:xfrm>
          <a:prstGeom prst="roundRect">
            <a:avLst>
              <a:gd name="adj" fmla="val 50000"/>
            </a:avLst>
          </a:prstGeom>
          <a:solidFill>
            <a:srgbClr val="11131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1050" y="405765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E6E8EC"/>
                </a:solidFill>
                <a:latin typeface="Unbounded"/>
              </a:rPr>
              <a:t>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04400" y="3968750"/>
            <a:ext cx="1016000" cy="406400"/>
          </a:xfrm>
          <a:prstGeom prst="roundRect">
            <a:avLst>
              <a:gd name="adj" fmla="val 50000"/>
            </a:avLst>
          </a:prstGeom>
          <a:solidFill>
            <a:srgbClr val="11131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804400" y="4057650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E6E8EC"/>
                </a:solidFill>
                <a:latin typeface="Unbounded"/>
              </a:rPr>
              <a:t>42/42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6647D1"/>
                </a:solidFill>
                <a:latin typeface="Manrope"/>
              </a:rPr>
              <a:t>01 · ЗАДАЧА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Одна выручка —</a:t>
            </a:r>
          </a:p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пять разных ответов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94000"/>
            <a:ext cx="4826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0" b="1">
                <a:solidFill>
                  <a:srgbClr val="6647D1"/>
                </a:solidFill>
                <a:latin typeface="Unbounded"/>
              </a:rPr>
              <a:t>7 млн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937000"/>
            <a:ext cx="4064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45494F"/>
                </a:solidFill>
                <a:latin typeface="Manrope"/>
              </a:rPr>
              <a:t>разброс между «разумными» способами посчитать одну и ту же выручку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2794000"/>
            <a:ext cx="5715000" cy="2857500"/>
          </a:xfrm>
          <a:prstGeom prst="roundRect">
            <a:avLst>
              <a:gd name="adj" fmla="val 5333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18200" y="30226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6647D1"/>
                </a:solidFill>
                <a:latin typeface="Manrope"/>
              </a:rPr>
              <a:t>Товары, только доставленные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1000" y="3022600"/>
            <a:ext cx="196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600" b="1">
                <a:solidFill>
                  <a:srgbClr val="6647D1"/>
                </a:solidFill>
                <a:latin typeface="Unbounded"/>
              </a:rPr>
              <a:t>13,22 млн  ✓</a:t>
            </a:r>
          </a:p>
        </p:txBody>
      </p:sp>
      <p:sp>
        <p:nvSpPr>
          <p:cNvPr id="9" name="Rectangle 8"/>
          <p:cNvSpPr/>
          <p:nvPr/>
        </p:nvSpPr>
        <p:spPr>
          <a:xfrm>
            <a:off x="5918200" y="3454400"/>
            <a:ext cx="5308600" cy="127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918200" y="35560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15171B"/>
                </a:solidFill>
                <a:latin typeface="Manrope"/>
              </a:rPr>
              <a:t>То же, но с доставкой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71000" y="3556000"/>
            <a:ext cx="196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600" b="0">
                <a:solidFill>
                  <a:srgbClr val="45494F"/>
                </a:solidFill>
                <a:latin typeface="Unbounded"/>
              </a:rPr>
              <a:t>15,42 млн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18200" y="3987800"/>
            <a:ext cx="5308600" cy="127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18200" y="40894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15171B"/>
                </a:solidFill>
                <a:latin typeface="Manrope"/>
              </a:rPr>
              <a:t>Сумма платежей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1000" y="4089400"/>
            <a:ext cx="196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600" b="0">
                <a:solidFill>
                  <a:srgbClr val="45494F"/>
                </a:solidFill>
                <a:latin typeface="Unbounded"/>
              </a:rPr>
              <a:t>15,42 млн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8200" y="4521200"/>
            <a:ext cx="5308600" cy="127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18200" y="46228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15171B"/>
                </a:solidFill>
                <a:latin typeface="Manrope"/>
              </a:rPr>
              <a:t>Все статусы, с доставкой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1000" y="4622800"/>
            <a:ext cx="196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600" b="0">
                <a:solidFill>
                  <a:srgbClr val="45494F"/>
                </a:solidFill>
                <a:latin typeface="Unbounded"/>
              </a:rPr>
              <a:t>15,85 млн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18200" y="5054600"/>
            <a:ext cx="5308600" cy="12700"/>
          </a:xfrm>
          <a:prstGeom prst="rect">
            <a:avLst/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18200" y="5156200"/>
            <a:ext cx="3429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15171B"/>
                </a:solidFill>
                <a:latin typeface="Manrope"/>
              </a:rPr>
              <a:t>Платежи × товары (JOIN)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71000" y="5156200"/>
            <a:ext cx="1968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600" b="0">
                <a:solidFill>
                  <a:srgbClr val="45494F"/>
                </a:solidFill>
                <a:latin typeface="Unbounded"/>
              </a:rPr>
              <a:t>20,31 млн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6032500"/>
            <a:ext cx="10668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15171B"/>
                </a:solidFill>
                <a:latin typeface="Manrope"/>
              </a:rPr>
              <a:t>Наша задача: записать правила один раз, чтобы цифра была одна.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B89EFF"/>
                </a:solidFill>
                <a:latin typeface="Manrope"/>
              </a:rPr>
              <a:t>02 · ЧТО НАМ ДАЛИ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DCDFE4"/>
                </a:solidFill>
                <a:latin typeface="Unbounded"/>
              </a:rPr>
              <a:t>8 таблиц · 550 759 строк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780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0">
                <a:solidFill>
                  <a:srgbClr val="A3AAB5"/>
                </a:solidFill>
                <a:latin typeface="Manrope"/>
              </a:rPr>
              <a:t>Настоящие обезличенные данные маркетплейса Olist (Бразилия), сентябрь 2016 — октябрь 2018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667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9800" y="2819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Заказы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3149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99 441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7100" y="2667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4900" y="2819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Товары в заказах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4900" y="3149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112 650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667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2819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Платежи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3149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103 886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7300" y="2667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5100" y="2819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Отзывы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5100" y="3149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99 224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3810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9800" y="3962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Покупатель в заказе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9800" y="4292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99 441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7100" y="3810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44900" y="3962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Товары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4900" y="4292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32 951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810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50000" y="3962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Продавцы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4292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3 095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77300" y="3810000"/>
            <a:ext cx="2552700" cy="990600"/>
          </a:xfrm>
          <a:prstGeom prst="roundRect">
            <a:avLst>
              <a:gd name="adj" fmla="val 1282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5100" y="3962400"/>
            <a:ext cx="222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Перевод категорий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5100" y="4292600"/>
            <a:ext cx="2222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E6E8EC"/>
                </a:solidFill>
                <a:latin typeface="Unbounded"/>
              </a:rPr>
              <a:t>71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2000" y="5207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1F2228"/>
          </a:solidFill>
          <a:ln w="12700">
            <a:solidFill>
              <a:srgbClr val="7E6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65200" y="53721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spc="90">
                <a:solidFill>
                  <a:srgbClr val="B89EFF"/>
                </a:solidFill>
                <a:latin typeface="Manrope"/>
              </a:rPr>
              <a:t>В ДАННЫХ НЕТ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200" y="5651500"/>
            <a:ext cx="10223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>
                <a:solidFill>
                  <a:srgbClr val="E6E8EC"/>
                </a:solidFill>
                <a:latin typeface="Manrope"/>
              </a:rPr>
              <a:t>выкупа и возвратов · корзины · комиссий и маржи · координат (только штаты)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6647D1"/>
                </a:solidFill>
                <a:latin typeface="Manrope"/>
              </a:rPr>
              <a:t>03 · ГЛАВНОЕ ПОНЯТИЕ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У каждой таблицы — своя «строка»</a:t>
            </a:r>
          </a:p>
        </p:txBody>
      </p:sp>
      <p:pic>
        <p:nvPicPr>
          <p:cNvPr id="4" name="Picture 3" descr="fac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609600"/>
            <a:ext cx="1143000" cy="1143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287000" y="609600"/>
            <a:ext cx="1143000" cy="1143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72720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45494F"/>
                </a:solidFill>
                <a:latin typeface="Manrope"/>
              </a:rPr>
              <a:t>Настоящий заказ f41397c4: 3 товара от 2 продавцов, оплата в рассрочку, отзыв на 1 звезду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413000"/>
            <a:ext cx="2552700" cy="2540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5200" y="26162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647D1"/>
                </a:solidFill>
                <a:latin typeface="Unbounded"/>
              </a:rPr>
              <a:t>Заказ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33020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одна строка = один заказ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4076700"/>
            <a:ext cx="215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1 строка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7100" y="2413000"/>
            <a:ext cx="2552700" cy="2540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70300" y="26162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647D1"/>
                </a:solidFill>
                <a:latin typeface="Unbounded"/>
              </a:rPr>
              <a:t>Товар в заказе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0300" y="33020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одна строка = единица товара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0300" y="4076700"/>
            <a:ext cx="215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3 строки: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11,55 · 19,89 · 21,89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13000"/>
            <a:ext cx="2552700" cy="2540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5400" y="26162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647D1"/>
                </a:solidFill>
                <a:latin typeface="Unbounded"/>
              </a:rPr>
              <a:t>Платёж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400" y="33020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одна строка = один платёж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5400" y="4076700"/>
            <a:ext cx="215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1 строка: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100,70 на 10 частей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7300" y="2413000"/>
            <a:ext cx="2552700" cy="25400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080500" y="26162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6647D1"/>
                </a:solidFill>
                <a:latin typeface="Unbounded"/>
              </a:rPr>
              <a:t>Отзыв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0500" y="3302000"/>
            <a:ext cx="215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одна строка = отзыв + заказ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0500" y="4076700"/>
            <a:ext cx="2159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1 строка: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оценка 1 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397500"/>
            <a:ext cx="10668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15171B"/>
                </a:solidFill>
                <a:latin typeface="Manrope"/>
              </a:rPr>
              <a:t>Средний чек считается по заказам, выручка продавца — по товарам.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15171B"/>
                </a:solidFill>
                <a:latin typeface="Manrope"/>
              </a:rPr>
              <a:t>Перепутал уровень — получил неверную цифру.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B89EFF"/>
                </a:solidFill>
                <a:latin typeface="Manrope"/>
              </a:rPr>
              <a:t>04 · ЛОВУШКА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635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DCDFE4"/>
                </a:solidFill>
                <a:latin typeface="Unbounded"/>
              </a:rPr>
              <a:t>Соединили «всё со всем»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622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A3AAB5"/>
                </a:solidFill>
                <a:latin typeface="Manrope"/>
              </a:rPr>
              <a:t>заказ × товары × платежи, а потом сложили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540000"/>
            <a:ext cx="6223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B89EFF"/>
                </a:solidFill>
                <a:latin typeface="Unbounded"/>
              </a:rPr>
              <a:t>302,10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29000"/>
            <a:ext cx="6223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B89EFF"/>
                </a:solidFill>
                <a:latin typeface="Manrope"/>
              </a:rPr>
              <a:t>получилось — платёж повторился трижды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37000"/>
            <a:ext cx="6223000" cy="12700"/>
          </a:xfrm>
          <a:prstGeom prst="rect">
            <a:avLst/>
          </a:prstGeom>
          <a:solidFill>
            <a:srgbClr val="4044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2000" y="4254500"/>
            <a:ext cx="6223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DCDFE4"/>
                </a:solidFill>
                <a:latin typeface="Unbounded"/>
              </a:rPr>
              <a:t>100,70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143500"/>
            <a:ext cx="6223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правильно — сначала свести каждую таблицу к заказу, потом соединять</a:t>
            </a:r>
          </a:p>
        </p:txBody>
      </p:sp>
      <p:pic>
        <p:nvPicPr>
          <p:cNvPr id="10" name="Picture 9" descr="me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524000"/>
            <a:ext cx="3810000" cy="3810000"/>
          </a:xfrm>
          <a:prstGeom prst="roundRect">
            <a:avLst>
              <a:gd name="adj" fmla="val 5333"/>
            </a:avLst>
          </a:prstGeom>
          <a:ln w="12700">
            <a:solidFill>
              <a:srgbClr val="5B6068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620000" y="5524500"/>
            <a:ext cx="381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Продавцы «заработали» бы по 100,70 вместо 11,55 и 41,78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6647D1"/>
                </a:solidFill>
                <a:latin typeface="Manrope"/>
              </a:rPr>
              <a:t>05 · КАК УСТРОЕНО ХРАНИЛИЩЕ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Три слоя: от сырья к ответам</a:t>
            </a:r>
          </a:p>
        </p:txBody>
      </p:sp>
      <p:pic>
        <p:nvPicPr>
          <p:cNvPr id="4" name="Picture 3" descr="fac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609600"/>
            <a:ext cx="1143000" cy="1143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287000" y="609600"/>
            <a:ext cx="1143000" cy="1143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2159000"/>
            <a:ext cx="3048000" cy="3175000"/>
          </a:xfrm>
          <a:prstGeom prst="roundRect">
            <a:avLst>
              <a:gd name="adj" fmla="val 5833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16000" y="24130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5171B"/>
                </a:solidFill>
                <a:latin typeface="Unbounded"/>
              </a:rPr>
              <a:t>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1115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6647D1"/>
                </a:solidFill>
                <a:latin typeface="Manrope"/>
              </a:rPr>
              <a:t>как пришло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524250"/>
            <a:ext cx="254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8 таблиц, всё текстом, с грязью. Не трогаем.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8260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45494F"/>
                </a:solidFill>
                <a:latin typeface="Manrope"/>
              </a:rPr>
              <a:t>≈ склад продуктов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7000" y="34925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6647D1"/>
                </a:solidFill>
                <a:latin typeface="Unbounde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59000"/>
            <a:ext cx="3048000" cy="3175000"/>
          </a:xfrm>
          <a:prstGeom prst="roundRect">
            <a:avLst>
              <a:gd name="adj" fmla="val 5833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26000" y="24130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DCDFE4"/>
                </a:solidFill>
                <a:latin typeface="Unbounded"/>
              </a:rPr>
              <a:t>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31115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B89EFF"/>
                </a:solidFill>
                <a:latin typeface="Manrope"/>
              </a:rPr>
              <a:t>наша модель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3524250"/>
            <a:ext cx="254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E6E8EC"/>
                </a:solidFill>
                <a:latin typeface="Manrope"/>
              </a:rPr>
              <a:t>7 справочников + 4 факта, ключи и правила записаны один раз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48260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A3AAB5"/>
                </a:solidFill>
                <a:latin typeface="Manrope"/>
              </a:rPr>
              <a:t>≈ разложено по контейнерам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7000" y="34925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1">
                <a:solidFill>
                  <a:srgbClr val="6647D1"/>
                </a:solidFill>
                <a:latin typeface="Unbounde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82000" y="2159000"/>
            <a:ext cx="3048000" cy="3175000"/>
          </a:xfrm>
          <a:prstGeom prst="roundRect">
            <a:avLst>
              <a:gd name="adj" fmla="val 5833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636000" y="2413000"/>
            <a:ext cx="254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15171B"/>
                </a:solidFill>
                <a:latin typeface="Unbounded"/>
              </a:rPr>
              <a:t>mart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6000" y="31115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6647D1"/>
                </a:solidFill>
                <a:latin typeface="Manrope"/>
              </a:rPr>
              <a:t>витрины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000" y="3524250"/>
            <a:ext cx="254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готовые ответы Q1–Q10 и данные для дашборда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6000" y="4826000"/>
            <a:ext cx="254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45494F"/>
                </a:solidFill>
                <a:latin typeface="Manrope"/>
              </a:rPr>
              <a:t>≈ готовые блюда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5715000"/>
            <a:ext cx="10668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5171B"/>
                </a:solidFill>
                <a:latin typeface="Manrope"/>
              </a:rPr>
              <a:t>Ответы и дашборд берутся только из модели — не из сырых данных.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B89EFF"/>
                </a:solidFill>
                <a:latin typeface="Manrope"/>
              </a:rPr>
              <a:t>06 · МОДЕЛЬ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DCDFE4"/>
                </a:solidFill>
                <a:latin typeface="Unbounded"/>
              </a:rPr>
              <a:t>4 события + 7 справочников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050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spc="84">
                <a:solidFill>
                  <a:srgbClr val="A3AAB5"/>
                </a:solidFill>
                <a:latin typeface="Manrope"/>
              </a:rPr>
              <a:t>СОБЫТИЯ — ЧТО ПРОИЗОШЛО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190750"/>
            <a:ext cx="2552700" cy="952500"/>
          </a:xfrm>
          <a:prstGeom prst="roundRect">
            <a:avLst>
              <a:gd name="adj" fmla="val 13333"/>
            </a:avLst>
          </a:prstGeom>
          <a:solidFill>
            <a:srgbClr val="1F2228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39800" y="23558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fact_order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27114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заказ со всеми этапами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67100" y="2190750"/>
            <a:ext cx="2552700" cy="952500"/>
          </a:xfrm>
          <a:prstGeom prst="roundRect">
            <a:avLst>
              <a:gd name="adj" fmla="val 13333"/>
            </a:avLst>
          </a:prstGeom>
          <a:solidFill>
            <a:srgbClr val="1F2228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644900" y="23558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fact_order_item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4900" y="27114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единица товара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90750"/>
            <a:ext cx="2552700" cy="952500"/>
          </a:xfrm>
          <a:prstGeom prst="roundRect">
            <a:avLst>
              <a:gd name="adj" fmla="val 13333"/>
            </a:avLst>
          </a:prstGeom>
          <a:solidFill>
            <a:srgbClr val="1F2228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50000" y="23558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fact_payment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27114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платёж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77300" y="2190750"/>
            <a:ext cx="2552700" cy="952500"/>
          </a:xfrm>
          <a:prstGeom prst="roundRect">
            <a:avLst>
              <a:gd name="adj" fmla="val 13333"/>
            </a:avLst>
          </a:prstGeom>
          <a:solidFill>
            <a:srgbClr val="1F2228"/>
          </a:solidFill>
          <a:ln w="12700">
            <a:solidFill>
              <a:srgbClr val="8A90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5100" y="23558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fact_review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5100" y="2711450"/>
            <a:ext cx="222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отзыв + заказ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5560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spc="84">
                <a:solidFill>
                  <a:srgbClr val="A3AAB5"/>
                </a:solidFill>
                <a:latin typeface="Manrope"/>
              </a:rPr>
              <a:t>СПРАВОЧНИКИ — КТО, ЧТО, КОГДА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3841750"/>
            <a:ext cx="2552700" cy="812800"/>
          </a:xfrm>
          <a:prstGeom prst="roundRect">
            <a:avLst>
              <a:gd name="adj" fmla="val 15625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9800" y="39687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dim_customer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9800" y="42735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человек (96 096)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67100" y="3841750"/>
            <a:ext cx="2552700" cy="812800"/>
          </a:xfrm>
          <a:prstGeom prst="roundRect">
            <a:avLst>
              <a:gd name="adj" fmla="val 15625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644900" y="39687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dim_customer_context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4900" y="42735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адрес на момент заказа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841750"/>
            <a:ext cx="2552700" cy="812800"/>
          </a:xfrm>
          <a:prstGeom prst="roundRect">
            <a:avLst>
              <a:gd name="adj" fmla="val 15625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50000" y="39687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dim_seller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0" y="42735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продавец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77300" y="3841750"/>
            <a:ext cx="2552700" cy="812800"/>
          </a:xfrm>
          <a:prstGeom prst="roundRect">
            <a:avLst>
              <a:gd name="adj" fmla="val 15625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5100" y="39687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dim_product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5100" y="42735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товар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000" y="4794250"/>
            <a:ext cx="2552700" cy="812800"/>
          </a:xfrm>
          <a:prstGeom prst="roundRect">
            <a:avLst>
              <a:gd name="adj" fmla="val 15625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9800" y="49212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dim_category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9800" y="52260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категория + unknown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67100" y="4794250"/>
            <a:ext cx="2552700" cy="812800"/>
          </a:xfrm>
          <a:prstGeom prst="roundRect">
            <a:avLst>
              <a:gd name="adj" fmla="val 15625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644900" y="49212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dim_date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44900" y="52260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календарь без дыр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4794250"/>
            <a:ext cx="2552700" cy="812800"/>
          </a:xfrm>
          <a:prstGeom prst="roundRect">
            <a:avLst>
              <a:gd name="adj" fmla="val 15625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350000" y="49212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dim_order_status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0000" y="522605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статус → даёт ли выручку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77300" y="4921250"/>
            <a:ext cx="25527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6E8EC"/>
                </a:solidFill>
                <a:latin typeface="Manrope"/>
              </a:rPr>
              <a:t>Связи закреплены ключами: база не пустит дубль, «сироту» или незнакомый статус.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6647D1"/>
                </a:solidFill>
                <a:latin typeface="Manrope"/>
              </a:rPr>
              <a:t>07 · КРИВЫЕ ДАННЫЕ → НАШИ РЕШЕНИЯ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Где данные врут — и что мы сделали</a:t>
            </a:r>
          </a:p>
        </p:txBody>
      </p:sp>
      <p:pic>
        <p:nvPicPr>
          <p:cNvPr id="4" name="Picture 3" descr="fac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609600"/>
            <a:ext cx="1143000" cy="1143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287000" y="609600"/>
            <a:ext cx="1143000" cy="1143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2032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200" y="22225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У покупателя два номера: новый на каждый заказ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05500" y="21971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6647D1"/>
                </a:solidFill>
                <a:latin typeface="Unbounded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2222500"/>
            <a:ext cx="4889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Человек = постоянный номер: 96 096, а не 99 441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27432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5200" y="29337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Номер отзыва повторяется у 789 отзывов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05500" y="29083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6647D1"/>
                </a:solidFill>
                <a:latin typeface="Unbounded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0" y="2933700"/>
            <a:ext cx="4889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Ключ = отзыв + заказ: ни одна связь не теряется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4544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5200" y="36449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610 товаров без категории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05500" y="36195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6647D1"/>
                </a:solidFill>
                <a:latin typeface="Unbounded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0000" y="3644900"/>
            <a:ext cx="4889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Категория «unknown»: сумма по категориям = общей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1656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5200" y="43561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В ноябре 2016 нет ни одного заказа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05500" y="43307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6647D1"/>
                </a:solidFill>
                <a:latin typeface="Unbounded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0" y="4356100"/>
            <a:ext cx="4889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Календарь без дыр: 24 месяца, а не 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48768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5200" y="50673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775 заказов без товаров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5500" y="50419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6647D1"/>
                </a:solidFill>
                <a:latin typeface="Unbounded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5067300"/>
            <a:ext cx="4889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45494F"/>
                </a:solidFill>
                <a:latin typeface="Manrope"/>
              </a:rPr>
              <a:t>Остаются в модели: товаров 0, выручка «неизвестна»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5842000"/>
            <a:ext cx="10668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15171B"/>
                </a:solidFill>
                <a:latin typeface="Manrope"/>
              </a:rPr>
              <a:t>Ничего не удаляем молча: всё сохраняется и проверяется.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B89EFF"/>
                </a:solidFill>
                <a:latin typeface="Manrope"/>
              </a:rPr>
              <a:t>08 · КАЧЕСТВО ДАННЫХ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DCDFE4"/>
                </a:solidFill>
                <a:latin typeface="Unbounded"/>
              </a:rPr>
              <a:t>Странное помечаем, а не удаляем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415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0" b="1">
                <a:solidFill>
                  <a:srgbClr val="DCDFE4"/>
                </a:solidFill>
                <a:latin typeface="Unbounded"/>
              </a:rPr>
              <a:t>217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5080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>
                <a:solidFill>
                  <a:srgbClr val="A3AAB5"/>
                </a:solidFill>
                <a:latin typeface="Manrope"/>
              </a:rPr>
              <a:t>заказов с датами не по порядку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2000" y="3683000"/>
            <a:ext cx="5715000" cy="825500"/>
          </a:xfrm>
          <a:prstGeom prst="roundRect">
            <a:avLst>
              <a:gd name="adj" fmla="val 15384"/>
            </a:avLst>
          </a:prstGeom>
          <a:solidFill>
            <a:srgbClr val="1F2228"/>
          </a:solidFill>
          <a:ln w="12700">
            <a:solidFill>
              <a:srgbClr val="7E6B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200" y="382270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E6E8EC"/>
                </a:solidFill>
                <a:latin typeface="Manrope"/>
              </a:rPr>
              <a:t>Заказ a5a9f45d: куплен в 14:45,</a:t>
            </a: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E6E8EC"/>
                </a:solidFill>
                <a:latin typeface="Manrope"/>
              </a:rPr>
              <a:t>а передан перевозчику в 13:41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47625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9800" y="49149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Флажок в строке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5232400"/>
            <a:ext cx="2476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6E8EC"/>
                </a:solidFill>
                <a:latin typeface="Manrope"/>
              </a:rPr>
              <a:t>исключаем только из той метрики, которую он портит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83000" y="4762500"/>
            <a:ext cx="2794000" cy="1270000"/>
          </a:xfrm>
          <a:prstGeom prst="roundRect">
            <a:avLst>
              <a:gd name="adj" fmla="val 10000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860800" y="4914900"/>
            <a:ext cx="2476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Журнал проблем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0800" y="5232400"/>
            <a:ext cx="2476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E6E8EC"/>
                </a:solidFill>
                <a:latin typeface="Manrope"/>
              </a:rPr>
              <a:t>видно, что, сколько и где — для аналитиков</a:t>
            </a:r>
          </a:p>
        </p:txBody>
      </p:sp>
      <p:pic>
        <p:nvPicPr>
          <p:cNvPr id="14" name="Picture 13" descr="ey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0" y="1905000"/>
            <a:ext cx="4445000" cy="2501900"/>
          </a:xfrm>
          <a:prstGeom prst="roundRect">
            <a:avLst>
              <a:gd name="adj" fmla="val 7106"/>
            </a:avLst>
          </a:prstGeom>
          <a:ln w="12700">
            <a:solidFill>
              <a:srgbClr val="5B6068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985000" y="4572000"/>
            <a:ext cx="444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3AAB5"/>
                </a:solidFill>
                <a:latin typeface="Manrope"/>
              </a:rPr>
              <a:t>Мы, когда увидели доставку раньше покупки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6647D1"/>
                </a:solidFill>
                <a:latin typeface="Manrope"/>
              </a:rPr>
              <a:t>09 · КАК МЫ УБЕДИЛИСЬ, ЧТО НИЧЕГО НЕ ПОТЕРЯЛИ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Сборка проверяет сама себя</a:t>
            </a:r>
          </a:p>
        </p:txBody>
      </p:sp>
      <p:pic>
        <p:nvPicPr>
          <p:cNvPr id="4" name="Picture 3" descr="fac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609600"/>
            <a:ext cx="1143000" cy="1143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287000" y="609600"/>
            <a:ext cx="1143000" cy="1143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2095500"/>
            <a:ext cx="2552700" cy="2032000"/>
          </a:xfrm>
          <a:prstGeom prst="roundRect">
            <a:avLst>
              <a:gd name="adj" fmla="val 75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200" y="2349500"/>
            <a:ext cx="2222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6647D1"/>
                </a:solidFill>
                <a:latin typeface="Unbounded"/>
              </a:rPr>
              <a:t>8/8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3175000"/>
            <a:ext cx="215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исходных файлов совпали с эталоном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7100" y="2095500"/>
            <a:ext cx="2552700" cy="2032000"/>
          </a:xfrm>
          <a:prstGeom prst="roundRect">
            <a:avLst>
              <a:gd name="adj" fmla="val 75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670300" y="2349500"/>
            <a:ext cx="2222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6647D1"/>
                </a:solidFill>
                <a:latin typeface="Unbounded"/>
              </a:rPr>
              <a:t>129 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0300" y="3175000"/>
            <a:ext cx="215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полная сборка модели с нуля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095500"/>
            <a:ext cx="2552700" cy="2032000"/>
          </a:xfrm>
          <a:prstGeom prst="roundRect">
            <a:avLst>
              <a:gd name="adj" fmla="val 75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75400" y="2349500"/>
            <a:ext cx="2222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6647D1"/>
                </a:solidFill>
                <a:latin typeface="Unbounded"/>
              </a:rPr>
              <a:t>42/42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5400" y="3175000"/>
            <a:ext cx="215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контрольных цифр задания совпали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77300" y="2095500"/>
            <a:ext cx="2552700" cy="2032000"/>
          </a:xfrm>
          <a:prstGeom prst="roundRect">
            <a:avLst>
              <a:gd name="adj" fmla="val 75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80500" y="2349500"/>
            <a:ext cx="22225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6647D1"/>
                </a:solidFill>
                <a:latin typeface="Unbounded"/>
              </a:rPr>
              <a:t>1 =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0500" y="3175000"/>
            <a:ext cx="2159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повторная сборка дала тот же результат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445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66800" y="4699000"/>
            <a:ext cx="10033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E6E8EC"/>
                </a:solidFill>
                <a:latin typeface="Manrope"/>
              </a:rPr>
              <a:t>Одна транзакция: если не сошлась хоть одна проверка —</a:t>
            </a:r>
          </a:p>
          <a:p>
            <a:pPr algn="l">
              <a:lnSpc>
                <a:spcPct val="130000"/>
              </a:lnSpc>
            </a:pPr>
            <a:r>
              <a:rPr sz="1800" b="1">
                <a:solidFill>
                  <a:srgbClr val="E6E8EC"/>
                </a:solidFill>
                <a:latin typeface="Manrope"/>
              </a:rPr>
              <a:t>всё откатывается, и модель остаётся прежней.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B89EFF"/>
                </a:solidFill>
                <a:latin typeface="Manrope"/>
              </a:rPr>
              <a:t>10 · ОТВЕТЫ ИЗ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DCDFE4"/>
                </a:solidFill>
                <a:latin typeface="Unbounded"/>
              </a:rPr>
              <a:t>Пять вопросов — пять совпадений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320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5200" y="2197100"/>
            <a:ext cx="63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B89EFF"/>
                </a:solidFill>
                <a:latin typeface="Unbounded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8000" y="2197100"/>
            <a:ext cx="330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Выручка по месяцам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7000" y="21971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24 месяца · 13 221 498,11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33000" y="2209800"/>
            <a:ext cx="127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✓ совпало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7178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5200" y="2882900"/>
            <a:ext cx="63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B89EFF"/>
                </a:solidFill>
                <a:latin typeface="Unbounded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8000" y="2882900"/>
            <a:ext cx="330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Топ-10 продавцов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7000" y="28829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№1: 226 987,93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33000" y="2895600"/>
            <a:ext cx="127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✓ совпало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2000" y="34036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5200" y="3568700"/>
            <a:ext cx="63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B89EFF"/>
                </a:solidFill>
                <a:latin typeface="Unbounded"/>
              </a:rPr>
              <a:t>Q3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8000" y="3568700"/>
            <a:ext cx="330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Средний чек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7000" y="35687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159,88 (по платежам было бы 159,86)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33000" y="3581400"/>
            <a:ext cx="127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✓ совпало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000" y="40894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65200" y="4254500"/>
            <a:ext cx="63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B89EFF"/>
                </a:solidFill>
                <a:latin typeface="Unbounded"/>
              </a:rPr>
              <a:t>Q4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8000" y="4254500"/>
            <a:ext cx="330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Покупатели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7000" y="42545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96 096 · вернулись 2 997 = 3,12 %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33000" y="4267200"/>
            <a:ext cx="127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✓ совпало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75200"/>
            <a:ext cx="10668000" cy="609600"/>
          </a:xfrm>
          <a:prstGeom prst="roundRect">
            <a:avLst>
              <a:gd name="adj" fmla="val 2083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5200" y="4940300"/>
            <a:ext cx="63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>
                <a:solidFill>
                  <a:srgbClr val="B89EFF"/>
                </a:solidFill>
                <a:latin typeface="Unbounded"/>
              </a:rPr>
              <a:t>Q5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78000" y="4940300"/>
            <a:ext cx="3302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Выручка по категориям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7000" y="4940300"/>
            <a:ext cx="482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E6E8EC"/>
                </a:solidFill>
                <a:latin typeface="Manrope"/>
              </a:rPr>
              <a:t>74 категории · топ 1 233 131,72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3000" y="4953000"/>
            <a:ext cx="1270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500" b="1">
                <a:solidFill>
                  <a:srgbClr val="B89EFF"/>
                </a:solidFill>
                <a:latin typeface="Manrope"/>
              </a:rPr>
              <a:t>✓ совпало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588000"/>
            <a:ext cx="889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A3AAB5"/>
                </a:solidFill>
                <a:latin typeface="Manrope"/>
              </a:rPr>
              <a:t>Где задание двусмысленно — показываем обе версии: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A3AAB5"/>
                </a:solidFill>
                <a:latin typeface="Manrope"/>
              </a:rPr>
              <a:t>заказов оформлено 99 421, доставлено 96 478.</a:t>
            </a:r>
          </a:p>
        </p:txBody>
      </p:sp>
      <p:pic>
        <p:nvPicPr>
          <p:cNvPr id="30" name="Picture 29" descr="fac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000" y="5461000"/>
            <a:ext cx="889000" cy="88900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10541000" y="5461000"/>
            <a:ext cx="889000" cy="889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6647D1"/>
                </a:solidFill>
                <a:latin typeface="Manrope"/>
              </a:rPr>
              <a:t>11 · РЕАКЦИЯ НА ВБРОС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Новое правило? Одна галочка</a:t>
            </a:r>
          </a:p>
        </p:txBody>
      </p:sp>
      <p:pic>
        <p:nvPicPr>
          <p:cNvPr id="4" name="Picture 3" descr="face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609600"/>
            <a:ext cx="1143000" cy="1143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287000" y="609600"/>
            <a:ext cx="1143000" cy="1143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2032000"/>
            <a:ext cx="4826000" cy="38100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200" y="2197100"/>
            <a:ext cx="444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spc="56">
                <a:solidFill>
                  <a:srgbClr val="45494F"/>
                </a:solidFill>
                <a:latin typeface="Manrope"/>
              </a:rPr>
              <a:t>СПРАВОЧНИК СТАТУСОВ · «ДАЁТ ВЫРУЧКУ?»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5200" y="26543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664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1168400" y="2679700"/>
            <a:ext cx="177800" cy="1778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524000" y="2616200"/>
            <a:ext cx="165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delivered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500" y="26289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вручён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5200" y="31623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664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68400" y="3187700"/>
            <a:ext cx="177800" cy="1778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524000" y="3124200"/>
            <a:ext cx="165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shipped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8500" y="31369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у перевозчика ← новое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5200" y="36703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CC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990600" y="3695700"/>
            <a:ext cx="177800" cy="1778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524000" y="3632200"/>
            <a:ext cx="165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invoiced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38500" y="36449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выставлен счёт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5200" y="41783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CC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90600" y="4203700"/>
            <a:ext cx="177800" cy="1778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524000" y="4140200"/>
            <a:ext cx="165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38500" y="41529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в обработке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5200" y="46863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CC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990600" y="4711700"/>
            <a:ext cx="177800" cy="1778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524000" y="4648200"/>
            <a:ext cx="165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canceled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38500" y="46609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отменён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5200" y="5194300"/>
            <a:ext cx="406400" cy="228600"/>
          </a:xfrm>
          <a:prstGeom prst="roundRect">
            <a:avLst>
              <a:gd name="adj" fmla="val 50000"/>
            </a:avLst>
          </a:prstGeom>
          <a:solidFill>
            <a:srgbClr val="CCC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90600" y="5219700"/>
            <a:ext cx="177800" cy="1778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524000" y="5156200"/>
            <a:ext cx="165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unavailable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38500" y="5168900"/>
            <a:ext cx="2286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нет в наличии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6000" y="20955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spc="84">
                <a:solidFill>
                  <a:srgbClr val="45494F"/>
                </a:solidFill>
                <a:latin typeface="Manrope"/>
              </a:rPr>
              <a:t>БЫЛО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0" y="2362200"/>
            <a:ext cx="533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15171B"/>
                </a:solidFill>
                <a:latin typeface="Unbounded"/>
              </a:rPr>
              <a:t>13 221 498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0" y="31750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spc="84">
                <a:solidFill>
                  <a:srgbClr val="6647D1"/>
                </a:solidFill>
                <a:latin typeface="Manrope"/>
              </a:rPr>
              <a:t>СТАЛО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6000" y="3441700"/>
            <a:ext cx="533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6647D1"/>
                </a:solidFill>
                <a:latin typeface="Unbounded"/>
              </a:rPr>
              <a:t>13 372 081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6000" y="4445000"/>
            <a:ext cx="5334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5171B"/>
                </a:solidFill>
                <a:latin typeface="Manrope"/>
              </a:rPr>
              <a:t>Поставили одну галочку у «shipped» → пересобрали модель → все ответы и дашборд пересчитались сами.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B89EFF"/>
                </a:solidFill>
                <a:latin typeface="Manrope"/>
              </a:rPr>
              <a:t>12 · ДАШБОРД «ОТ КОРЗИНЫ ДО ВЫКУПА»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1066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DCDFE4"/>
                </a:solidFill>
                <a:latin typeface="Unbounded"/>
              </a:rPr>
              <a:t>Цена опоздания — две звезды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32000"/>
            <a:ext cx="4953000" cy="2095500"/>
          </a:xfrm>
          <a:prstGeom prst="roundRect">
            <a:avLst>
              <a:gd name="adj" fmla="val 7272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16000" y="2235200"/>
            <a:ext cx="444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Привезли вовремя · 93,2 % заказов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603500"/>
            <a:ext cx="444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DCDFE4"/>
                </a:solidFill>
                <a:latin typeface="Unbounded"/>
              </a:rPr>
              <a:t>4,29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619500"/>
            <a:ext cx="444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E6E8EC"/>
                </a:solidFill>
                <a:latin typeface="Manrope"/>
              </a:rPr>
              <a:t>оценок 1–2: 9,2 %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69000" y="2032000"/>
            <a:ext cx="4953000" cy="2095500"/>
          </a:xfrm>
          <a:prstGeom prst="roundRect">
            <a:avLst>
              <a:gd name="adj" fmla="val 7272"/>
            </a:avLst>
          </a:prstGeom>
          <a:solidFill>
            <a:srgbClr val="1F2228"/>
          </a:solidFill>
          <a:ln w="19050">
            <a:solidFill>
              <a:srgbClr val="8F7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23000" y="2235200"/>
            <a:ext cx="444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A3AAB5"/>
                </a:solidFill>
                <a:latin typeface="Manrope"/>
              </a:rPr>
              <a:t>С опозданием · 6,8 % заказов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3000" y="2603500"/>
            <a:ext cx="444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B89EFF"/>
                </a:solidFill>
                <a:latin typeface="Unbounded"/>
              </a:rPr>
              <a:t>2,27 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0" y="3619500"/>
            <a:ext cx="444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E6E8EC"/>
                </a:solidFill>
                <a:latin typeface="Manrope"/>
              </a:rPr>
              <a:t>оценок 1–2: 62,4 %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45000"/>
            <a:ext cx="9144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E6E8EC"/>
                </a:solidFill>
                <a:latin typeface="Manrope"/>
              </a:rPr>
              <a:t>В 27,8 % опозданий продавец передал заказ позже срока, в 72 % задержка возникла уже после передачи. Виноватых не называем — данные этого не доказывают.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715000"/>
            <a:ext cx="9144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Рабочий HTML-дашборд: все 99 441 заказ, фильтры, 14 из 14 сверок с SQL</a:t>
            </a:r>
          </a:p>
        </p:txBody>
      </p:sp>
      <p:pic>
        <p:nvPicPr>
          <p:cNvPr id="14" name="Picture 13" descr="fac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5207000"/>
            <a:ext cx="1016000" cy="10160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10287000" y="5207000"/>
            <a:ext cx="1016000" cy="1016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E9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6647D1"/>
                </a:solidFill>
                <a:latin typeface="Manrope"/>
              </a:rPr>
              <a:t>13 · ИСПОЛЬЗОВАНИЕ 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914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5171B"/>
                </a:solidFill>
                <a:latin typeface="Unbounded"/>
              </a:rPr>
              <a:t>ИИ помогал — и проверялся</a:t>
            </a:r>
          </a:p>
        </p:txBody>
      </p:sp>
      <p:pic>
        <p:nvPicPr>
          <p:cNvPr id="4" name="Picture 3" descr="fac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609600"/>
            <a:ext cx="1143000" cy="11430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0287000" y="609600"/>
            <a:ext cx="1143000" cy="1143000"/>
          </a:xfrm>
          <a:prstGeom prst="ellipse">
            <a:avLst/>
          </a:prstGeom>
          <a:noFill/>
          <a:ln w="25400">
            <a:solidFill>
              <a:srgbClr val="DC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2032000"/>
            <a:ext cx="4445000" cy="3556000"/>
          </a:xfrm>
          <a:prstGeom prst="roundRect">
            <a:avLst>
              <a:gd name="adj" fmla="val 4285"/>
            </a:avLst>
          </a:prstGeom>
          <a:solidFill>
            <a:srgbClr val="15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16000" y="22860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 spc="90">
                <a:solidFill>
                  <a:srgbClr val="B89EFF"/>
                </a:solidFill>
                <a:latin typeface="Manrope"/>
              </a:rPr>
              <a:t>КАК РАБОТАЛИ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667000"/>
            <a:ext cx="3937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E6E8EC"/>
                </a:solidFill>
                <a:latin typeface="Manrope"/>
              </a:rPr>
              <a:t>Код, SQL и анализ писали ИИ-агенты. Решения принимали люди.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E6E8EC"/>
                </a:solidFill>
                <a:latin typeface="Manrope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E6E8EC"/>
                </a:solidFill>
                <a:latin typeface="Manrope"/>
              </a:rPr>
              <a:t>Сама модель детерминированная: её собирает SQL, ИИ внутри нет.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88000" y="2032000"/>
            <a:ext cx="584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spc="84">
                <a:solidFill>
                  <a:srgbClr val="6647D1"/>
                </a:solidFill>
                <a:latin typeface="Manrope"/>
              </a:rPr>
              <a:t>ОШИБКИ ИИ, КОТОРЫЕ МЫ ПОЙМАЛИ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88000" y="2349500"/>
            <a:ext cx="5842000" cy="95250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91200" y="2501900"/>
            <a:ext cx="546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«72 % опозданий — вина перевозчика»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91200" y="2844800"/>
            <a:ext cx="546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данные показывают этап задержки, но не виноватого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88000" y="3429000"/>
            <a:ext cx="5842000" cy="95250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791200" y="3581400"/>
            <a:ext cx="546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«366 заказов, разница −1 819,51»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200" y="3924300"/>
            <a:ext cx="546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склеены два подсчёта: 366 / −1 818,84 и 639 / −1 819,51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88000" y="4508500"/>
            <a:ext cx="5842000" cy="952500"/>
          </a:xfrm>
          <a:prstGeom prst="roundRect">
            <a:avLst>
              <a:gd name="adj" fmla="val 13333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91200" y="4660900"/>
            <a:ext cx="546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15171B"/>
                </a:solidFill>
                <a:latin typeface="Manrope"/>
              </a:rPr>
              <a:t>«PostgreSQL хватает до 5 млн строк»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5003800"/>
            <a:ext cx="5461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45494F"/>
                </a:solidFill>
                <a:latin typeface="Manrope"/>
              </a:rPr>
              <a:t>источника нет — число выдумано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905500"/>
            <a:ext cx="10668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>
                <a:solidFill>
                  <a:srgbClr val="15171B"/>
                </a:solidFill>
                <a:latin typeface="Manrope"/>
              </a:rPr>
              <a:t>Каждый вывод проверяли запросом к данным и вторым независимым способом.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3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 spc="104">
                <a:solidFill>
                  <a:srgbClr val="B89EFF"/>
                </a:solidFill>
                <a:latin typeface="Manrope"/>
              </a:rPr>
              <a:t>14 · КУДА РАСТИ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079500"/>
            <a:ext cx="635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DCDFE4"/>
                </a:solidFill>
                <a:latin typeface="Unbounded"/>
              </a:rPr>
              <a:t>Сначала модель — потом масштаб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6223000" cy="920750"/>
          </a:xfrm>
          <a:prstGeom prst="roundRect">
            <a:avLst>
              <a:gd name="adj" fmla="val 1379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65200" y="20574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B89EFF"/>
                </a:solidFill>
                <a:latin typeface="Unbounded"/>
              </a:rPr>
              <a:t>СЕЙЧАС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5200" y="2349500"/>
            <a:ext cx="584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E6E8EC"/>
                </a:solidFill>
                <a:latin typeface="Manrope"/>
              </a:rPr>
              <a:t>PostgreSQL, полная пересборка за ~2 минуты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952750"/>
            <a:ext cx="6223000" cy="920750"/>
          </a:xfrm>
          <a:prstGeom prst="roundRect">
            <a:avLst>
              <a:gd name="adj" fmla="val 1379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5200" y="310515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B89EFF"/>
                </a:solidFill>
                <a:latin typeface="Unbounded"/>
              </a:rPr>
              <a:t>РОСТ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3397250"/>
            <a:ext cx="584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E6E8EC"/>
                </a:solidFill>
                <a:latin typeface="Manrope"/>
              </a:rPr>
              <a:t>дописывать только новые заказы, замерять скорость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" y="4000500"/>
            <a:ext cx="6223000" cy="920750"/>
          </a:xfrm>
          <a:prstGeom prst="roundRect">
            <a:avLst>
              <a:gd name="adj" fmla="val 13793"/>
            </a:avLst>
          </a:prstGeom>
          <a:solidFill>
            <a:srgbClr val="1F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5200" y="4152900"/>
            <a:ext cx="254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B89EFF"/>
                </a:solidFill>
                <a:latin typeface="Unbounded"/>
              </a:rPr>
              <a:t>МАСШТАБ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5200" y="4445000"/>
            <a:ext cx="584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E6E8EC"/>
                </a:solidFill>
                <a:latin typeface="Manrope"/>
              </a:rPr>
              <a:t>колоночная база (ClickHouse) — по замерам, а не по «порогу в строках»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080000"/>
            <a:ext cx="635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DCDFE4"/>
                </a:solidFill>
                <a:latin typeface="Unbounded"/>
              </a:rPr>
              <a:t>Спасибо!</a:t>
            </a:r>
          </a:p>
          <a:p>
            <a:pPr algn="l">
              <a:lnSpc>
                <a:spcPct val="105000"/>
              </a:lnSpc>
            </a:pPr>
            <a:r>
              <a:rPr sz="3800" b="1">
                <a:solidFill>
                  <a:srgbClr val="DCDFE4"/>
                </a:solidFill>
                <a:latin typeface="Unbounded"/>
              </a:rPr>
              <a:t>Вопросы?</a:t>
            </a:r>
          </a:p>
        </p:txBody>
      </p:sp>
      <p:pic>
        <p:nvPicPr>
          <p:cNvPr id="14" name="Picture 13" descr="leop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0" y="1651000"/>
            <a:ext cx="4064000" cy="3073400"/>
          </a:xfrm>
          <a:prstGeom prst="roundRect">
            <a:avLst>
              <a:gd name="adj" fmla="val 6611"/>
            </a:avLst>
          </a:prstGeom>
          <a:ln w="12700">
            <a:solidFill>
              <a:srgbClr val="5B6068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7905750" y="3581400"/>
            <a:ext cx="825500" cy="406400"/>
          </a:xfrm>
          <a:prstGeom prst="roundRect">
            <a:avLst>
              <a:gd name="adj" fmla="val 50000"/>
            </a:avLst>
          </a:prstGeom>
          <a:solidFill>
            <a:srgbClr val="11131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905750" y="36703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E6E8EC"/>
                </a:solidFill>
                <a:latin typeface="Unbounded"/>
              </a:rPr>
              <a:t>мяу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8900" y="3581400"/>
            <a:ext cx="571500" cy="406400"/>
          </a:xfrm>
          <a:prstGeom prst="roundRect">
            <a:avLst>
              <a:gd name="adj" fmla="val 50000"/>
            </a:avLst>
          </a:prstGeom>
          <a:solidFill>
            <a:srgbClr val="111317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8900" y="3670300"/>
            <a:ext cx="571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>
                <a:solidFill>
                  <a:srgbClr val="E6E8EC"/>
                </a:solidFill>
                <a:latin typeface="Unbounded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6000" y="4953000"/>
            <a:ext cx="4064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E6E8EC"/>
                </a:solidFill>
                <a:latin typeface="Unbounded"/>
              </a:rPr>
              <a:t>Команда «Скажите "мяу"»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6000" y="5588000"/>
            <a:ext cx="406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A3AAB5"/>
                </a:solidFill>
                <a:latin typeface="Manrope"/>
              </a:rPr>
              <a:t>Дальше: история статусов, возвраты, геолокация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